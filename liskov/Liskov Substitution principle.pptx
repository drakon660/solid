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71" r:id="rId2"/>
    <p:sldId id="256" r:id="rId3"/>
    <p:sldId id="257" r:id="rId4"/>
    <p:sldId id="258" r:id="rId5"/>
    <p:sldId id="259" r:id="rId6"/>
    <p:sldId id="260" r:id="rId7"/>
    <p:sldId id="261" r:id="rId8"/>
    <p:sldId id="269" r:id="rId9"/>
    <p:sldId id="262" r:id="rId10"/>
    <p:sldId id="263" r:id="rId11"/>
    <p:sldId id="266" r:id="rId12"/>
    <p:sldId id="267" r:id="rId13"/>
    <p:sldId id="268" r:id="rId14"/>
    <p:sldId id="270" r:id="rId15"/>
    <p:sldId id="273" r:id="rId16"/>
    <p:sldId id="274" r:id="rId17"/>
    <p:sldId id="275" r:id="rId18"/>
    <p:sldId id="27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14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C26275F-5DF8-47FA-8644-81FD8125E4CC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E28C5235-D9FB-4D7B-8902-AD194A3F3688}">
      <dgm:prSet/>
      <dgm:spPr/>
      <dgm:t>
        <a:bodyPr/>
        <a:lstStyle/>
        <a:p>
          <a:r>
            <a:rPr lang="en-US" b="1" i="1"/>
            <a:t>OOPSLA '87: Conference proceedings on Object-oriented programming systems, languages and applications</a:t>
          </a:r>
          <a:endParaRPr lang="en-US"/>
        </a:p>
      </dgm:t>
    </dgm:pt>
    <dgm:pt modelId="{3A2388E4-1192-4BB0-904E-DD5BFE001807}" type="parTrans" cxnId="{98FD1F17-2C8F-48D7-AC4D-948AAA7E68B2}">
      <dgm:prSet/>
      <dgm:spPr/>
      <dgm:t>
        <a:bodyPr/>
        <a:lstStyle/>
        <a:p>
          <a:endParaRPr lang="en-US"/>
        </a:p>
      </dgm:t>
    </dgm:pt>
    <dgm:pt modelId="{6587C680-834A-494F-BA6B-2C36F9A2835B}" type="sibTrans" cxnId="{98FD1F17-2C8F-48D7-AC4D-948AAA7E68B2}">
      <dgm:prSet/>
      <dgm:spPr/>
      <dgm:t>
        <a:bodyPr/>
        <a:lstStyle/>
        <a:p>
          <a:endParaRPr lang="en-US"/>
        </a:p>
      </dgm:t>
    </dgm:pt>
    <dgm:pt modelId="{4E0788DC-AEF5-4850-A56D-A6592C4C39E8}">
      <dgm:prSet/>
      <dgm:spPr/>
      <dgm:t>
        <a:bodyPr/>
        <a:lstStyle/>
        <a:p>
          <a:r>
            <a:rPr lang="en-US" b="1"/>
            <a:t>Coroczna konferencja organizowana przez ACM (Association for Computing Machinery) organizowana od 1986 roku.</a:t>
          </a:r>
          <a:endParaRPr lang="en-US"/>
        </a:p>
      </dgm:t>
    </dgm:pt>
    <dgm:pt modelId="{6D1DF825-4ECB-4197-B861-A1D4B3D5C458}" type="parTrans" cxnId="{A59D07DD-E426-4F56-9429-831409356435}">
      <dgm:prSet/>
      <dgm:spPr/>
      <dgm:t>
        <a:bodyPr/>
        <a:lstStyle/>
        <a:p>
          <a:endParaRPr lang="en-US"/>
        </a:p>
      </dgm:t>
    </dgm:pt>
    <dgm:pt modelId="{12718135-7E39-4D65-BF71-BD720D93595F}" type="sibTrans" cxnId="{A59D07DD-E426-4F56-9429-831409356435}">
      <dgm:prSet/>
      <dgm:spPr/>
      <dgm:t>
        <a:bodyPr/>
        <a:lstStyle/>
        <a:p>
          <a:endParaRPr lang="en-US"/>
        </a:p>
      </dgm:t>
    </dgm:pt>
    <dgm:pt modelId="{60F23B43-D017-4BFB-8533-56EE1FC39FDB}" type="pres">
      <dgm:prSet presAssocID="{0C26275F-5DF8-47FA-8644-81FD8125E4CC}" presName="root" presStyleCnt="0">
        <dgm:presLayoutVars>
          <dgm:dir/>
          <dgm:resizeHandles val="exact"/>
        </dgm:presLayoutVars>
      </dgm:prSet>
      <dgm:spPr/>
    </dgm:pt>
    <dgm:pt modelId="{04AED870-F166-4A5D-974A-9F477E67E041}" type="pres">
      <dgm:prSet presAssocID="{0C26275F-5DF8-47FA-8644-81FD8125E4CC}" presName="container" presStyleCnt="0">
        <dgm:presLayoutVars>
          <dgm:dir/>
          <dgm:resizeHandles val="exact"/>
        </dgm:presLayoutVars>
      </dgm:prSet>
      <dgm:spPr/>
    </dgm:pt>
    <dgm:pt modelId="{2A69B87D-1925-4544-8BF5-9539694EFB4D}" type="pres">
      <dgm:prSet presAssocID="{E28C5235-D9FB-4D7B-8902-AD194A3F3688}" presName="compNode" presStyleCnt="0"/>
      <dgm:spPr/>
    </dgm:pt>
    <dgm:pt modelId="{B8B63A9C-37C9-46CD-8932-9B54382A2F42}" type="pres">
      <dgm:prSet presAssocID="{E28C5235-D9FB-4D7B-8902-AD194A3F3688}" presName="iconBgRect" presStyleLbl="bgShp" presStyleIdx="0" presStyleCnt="2"/>
      <dgm:spPr/>
    </dgm:pt>
    <dgm:pt modelId="{5850B864-2C03-4A08-BCD6-6EBA8B804902}" type="pres">
      <dgm:prSet presAssocID="{E28C5235-D9FB-4D7B-8902-AD194A3F368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7F485392-F46D-4F10-AF00-0027A48176E0}" type="pres">
      <dgm:prSet presAssocID="{E28C5235-D9FB-4D7B-8902-AD194A3F3688}" presName="spaceRect" presStyleCnt="0"/>
      <dgm:spPr/>
    </dgm:pt>
    <dgm:pt modelId="{1DFABB12-30D3-4D4A-BEE8-B1220E84FD5F}" type="pres">
      <dgm:prSet presAssocID="{E28C5235-D9FB-4D7B-8902-AD194A3F3688}" presName="textRect" presStyleLbl="revTx" presStyleIdx="0" presStyleCnt="2">
        <dgm:presLayoutVars>
          <dgm:chMax val="1"/>
          <dgm:chPref val="1"/>
        </dgm:presLayoutVars>
      </dgm:prSet>
      <dgm:spPr/>
    </dgm:pt>
    <dgm:pt modelId="{C7229C8E-CE5D-4C83-8964-86A86E2FF99E}" type="pres">
      <dgm:prSet presAssocID="{6587C680-834A-494F-BA6B-2C36F9A2835B}" presName="sibTrans" presStyleLbl="sibTrans2D1" presStyleIdx="0" presStyleCnt="0"/>
      <dgm:spPr/>
    </dgm:pt>
    <dgm:pt modelId="{D50EFD2C-A3BD-4224-9E5A-7CA0C77C3373}" type="pres">
      <dgm:prSet presAssocID="{4E0788DC-AEF5-4850-A56D-A6592C4C39E8}" presName="compNode" presStyleCnt="0"/>
      <dgm:spPr/>
    </dgm:pt>
    <dgm:pt modelId="{DFD0DBC5-2BCA-4FA9-81A5-BBCB253D444F}" type="pres">
      <dgm:prSet presAssocID="{4E0788DC-AEF5-4850-A56D-A6592C4C39E8}" presName="iconBgRect" presStyleLbl="bgShp" presStyleIdx="1" presStyleCnt="2"/>
      <dgm:spPr/>
    </dgm:pt>
    <dgm:pt modelId="{FE73C219-F864-4B21-A69D-9BE13D262E9C}" type="pres">
      <dgm:prSet presAssocID="{4E0788DC-AEF5-4850-A56D-A6592C4C39E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3D7321D5-C2D1-4118-A2D4-CA2114DD4E05}" type="pres">
      <dgm:prSet presAssocID="{4E0788DC-AEF5-4850-A56D-A6592C4C39E8}" presName="spaceRect" presStyleCnt="0"/>
      <dgm:spPr/>
    </dgm:pt>
    <dgm:pt modelId="{5E70B7D2-D25B-41DE-8C68-8D0551D68430}" type="pres">
      <dgm:prSet presAssocID="{4E0788DC-AEF5-4850-A56D-A6592C4C39E8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AFDACF08-D51B-471D-883D-338DAEF7673B}" type="presOf" srcId="{E28C5235-D9FB-4D7B-8902-AD194A3F3688}" destId="{1DFABB12-30D3-4D4A-BEE8-B1220E84FD5F}" srcOrd="0" destOrd="0" presId="urn:microsoft.com/office/officeart/2018/2/layout/IconCircleList"/>
    <dgm:cxn modelId="{98FD1F17-2C8F-48D7-AC4D-948AAA7E68B2}" srcId="{0C26275F-5DF8-47FA-8644-81FD8125E4CC}" destId="{E28C5235-D9FB-4D7B-8902-AD194A3F3688}" srcOrd="0" destOrd="0" parTransId="{3A2388E4-1192-4BB0-904E-DD5BFE001807}" sibTransId="{6587C680-834A-494F-BA6B-2C36F9A2835B}"/>
    <dgm:cxn modelId="{3A9BC65C-EA33-4675-B7DF-23A6DDDB0669}" type="presOf" srcId="{0C26275F-5DF8-47FA-8644-81FD8125E4CC}" destId="{60F23B43-D017-4BFB-8533-56EE1FC39FDB}" srcOrd="0" destOrd="0" presId="urn:microsoft.com/office/officeart/2018/2/layout/IconCircleList"/>
    <dgm:cxn modelId="{8FE609A7-9B61-4312-AE72-CBD9A9A10CA6}" type="presOf" srcId="{6587C680-834A-494F-BA6B-2C36F9A2835B}" destId="{C7229C8E-CE5D-4C83-8964-86A86E2FF99E}" srcOrd="0" destOrd="0" presId="urn:microsoft.com/office/officeart/2018/2/layout/IconCircleList"/>
    <dgm:cxn modelId="{B2E538CA-0EB7-4DB0-A579-4DA82AF3140F}" type="presOf" srcId="{4E0788DC-AEF5-4850-A56D-A6592C4C39E8}" destId="{5E70B7D2-D25B-41DE-8C68-8D0551D68430}" srcOrd="0" destOrd="0" presId="urn:microsoft.com/office/officeart/2018/2/layout/IconCircleList"/>
    <dgm:cxn modelId="{A59D07DD-E426-4F56-9429-831409356435}" srcId="{0C26275F-5DF8-47FA-8644-81FD8125E4CC}" destId="{4E0788DC-AEF5-4850-A56D-A6592C4C39E8}" srcOrd="1" destOrd="0" parTransId="{6D1DF825-4ECB-4197-B861-A1D4B3D5C458}" sibTransId="{12718135-7E39-4D65-BF71-BD720D93595F}"/>
    <dgm:cxn modelId="{188EB58B-AE03-4F36-964A-2C5086237C3B}" type="presParOf" srcId="{60F23B43-D017-4BFB-8533-56EE1FC39FDB}" destId="{04AED870-F166-4A5D-974A-9F477E67E041}" srcOrd="0" destOrd="0" presId="urn:microsoft.com/office/officeart/2018/2/layout/IconCircleList"/>
    <dgm:cxn modelId="{37FC1876-9E93-43C5-8EF6-3E11CAAA2A8C}" type="presParOf" srcId="{04AED870-F166-4A5D-974A-9F477E67E041}" destId="{2A69B87D-1925-4544-8BF5-9539694EFB4D}" srcOrd="0" destOrd="0" presId="urn:microsoft.com/office/officeart/2018/2/layout/IconCircleList"/>
    <dgm:cxn modelId="{604D5FEE-B863-4960-8F5D-CFBF0590062D}" type="presParOf" srcId="{2A69B87D-1925-4544-8BF5-9539694EFB4D}" destId="{B8B63A9C-37C9-46CD-8932-9B54382A2F42}" srcOrd="0" destOrd="0" presId="urn:microsoft.com/office/officeart/2018/2/layout/IconCircleList"/>
    <dgm:cxn modelId="{C5BBD9D7-153B-4CFF-983D-0A5409677A2D}" type="presParOf" srcId="{2A69B87D-1925-4544-8BF5-9539694EFB4D}" destId="{5850B864-2C03-4A08-BCD6-6EBA8B804902}" srcOrd="1" destOrd="0" presId="urn:microsoft.com/office/officeart/2018/2/layout/IconCircleList"/>
    <dgm:cxn modelId="{C13C1A58-72B1-42C2-B270-62DE191C27A8}" type="presParOf" srcId="{2A69B87D-1925-4544-8BF5-9539694EFB4D}" destId="{7F485392-F46D-4F10-AF00-0027A48176E0}" srcOrd="2" destOrd="0" presId="urn:microsoft.com/office/officeart/2018/2/layout/IconCircleList"/>
    <dgm:cxn modelId="{FEAEEFE6-7BA5-4220-884C-AA94EE450C60}" type="presParOf" srcId="{2A69B87D-1925-4544-8BF5-9539694EFB4D}" destId="{1DFABB12-30D3-4D4A-BEE8-B1220E84FD5F}" srcOrd="3" destOrd="0" presId="urn:microsoft.com/office/officeart/2018/2/layout/IconCircleList"/>
    <dgm:cxn modelId="{47921652-CB4E-44A8-ACA4-D9F971F19754}" type="presParOf" srcId="{04AED870-F166-4A5D-974A-9F477E67E041}" destId="{C7229C8E-CE5D-4C83-8964-86A86E2FF99E}" srcOrd="1" destOrd="0" presId="urn:microsoft.com/office/officeart/2018/2/layout/IconCircleList"/>
    <dgm:cxn modelId="{55646B1A-4578-45A3-A683-BF769ACD8311}" type="presParOf" srcId="{04AED870-F166-4A5D-974A-9F477E67E041}" destId="{D50EFD2C-A3BD-4224-9E5A-7CA0C77C3373}" srcOrd="2" destOrd="0" presId="urn:microsoft.com/office/officeart/2018/2/layout/IconCircleList"/>
    <dgm:cxn modelId="{3EFB6998-E514-4988-942D-698B77F7AFE0}" type="presParOf" srcId="{D50EFD2C-A3BD-4224-9E5A-7CA0C77C3373}" destId="{DFD0DBC5-2BCA-4FA9-81A5-BBCB253D444F}" srcOrd="0" destOrd="0" presId="urn:microsoft.com/office/officeart/2018/2/layout/IconCircleList"/>
    <dgm:cxn modelId="{7A6CB542-7BC7-4ABA-B105-4A9531BB00AC}" type="presParOf" srcId="{D50EFD2C-A3BD-4224-9E5A-7CA0C77C3373}" destId="{FE73C219-F864-4B21-A69D-9BE13D262E9C}" srcOrd="1" destOrd="0" presId="urn:microsoft.com/office/officeart/2018/2/layout/IconCircleList"/>
    <dgm:cxn modelId="{78D0E4AE-1ECB-43C2-BEBD-1E1C11177FF0}" type="presParOf" srcId="{D50EFD2C-A3BD-4224-9E5A-7CA0C77C3373}" destId="{3D7321D5-C2D1-4118-A2D4-CA2114DD4E05}" srcOrd="2" destOrd="0" presId="urn:microsoft.com/office/officeart/2018/2/layout/IconCircleList"/>
    <dgm:cxn modelId="{E4028060-01EB-405D-A4B8-EC7943085358}" type="presParOf" srcId="{D50EFD2C-A3BD-4224-9E5A-7CA0C77C3373}" destId="{5E70B7D2-D25B-41DE-8C68-8D0551D68430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6C84C37-5FA8-4DD8-9513-F4A2FA48A542}" type="doc">
      <dgm:prSet loTypeId="urn:microsoft.com/office/officeart/2005/8/layout/vList2" loCatId="list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86A11CC8-5A6A-4896-AED0-CA362B5BA55D}" type="pres">
      <dgm:prSet presAssocID="{A6C84C37-5FA8-4DD8-9513-F4A2FA48A542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9C350837-A442-49C0-9179-74D15B49079E}" type="presOf" srcId="{A6C84C37-5FA8-4DD8-9513-F4A2FA48A542}" destId="{86A11CC8-5A6A-4896-AED0-CA362B5BA55D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B63A9C-37C9-46CD-8932-9B54382A2F42}">
      <dsp:nvSpPr>
        <dsp:cNvPr id="0" name=""/>
        <dsp:cNvSpPr/>
      </dsp:nvSpPr>
      <dsp:spPr>
        <a:xfrm>
          <a:off x="212335" y="1507711"/>
          <a:ext cx="1335915" cy="133591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50B864-2C03-4A08-BCD6-6EBA8B804902}">
      <dsp:nvSpPr>
        <dsp:cNvPr id="0" name=""/>
        <dsp:cNvSpPr/>
      </dsp:nvSpPr>
      <dsp:spPr>
        <a:xfrm>
          <a:off x="492877" y="1788253"/>
          <a:ext cx="774830" cy="774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FABB12-30D3-4D4A-BEE8-B1220E84FD5F}">
      <dsp:nvSpPr>
        <dsp:cNvPr id="0" name=""/>
        <dsp:cNvSpPr/>
      </dsp:nvSpPr>
      <dsp:spPr>
        <a:xfrm>
          <a:off x="1834517" y="1507711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1" kern="1200"/>
            <a:t>OOPSLA '87: Conference proceedings on Object-oriented programming systems, languages and applications</a:t>
          </a:r>
          <a:endParaRPr lang="en-US" sz="1900" kern="1200"/>
        </a:p>
      </dsp:txBody>
      <dsp:txXfrm>
        <a:off x="1834517" y="1507711"/>
        <a:ext cx="3148942" cy="1335915"/>
      </dsp:txXfrm>
    </dsp:sp>
    <dsp:sp modelId="{DFD0DBC5-2BCA-4FA9-81A5-BBCB253D444F}">
      <dsp:nvSpPr>
        <dsp:cNvPr id="0" name=""/>
        <dsp:cNvSpPr/>
      </dsp:nvSpPr>
      <dsp:spPr>
        <a:xfrm>
          <a:off x="5532139" y="1507711"/>
          <a:ext cx="1335915" cy="133591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73C219-F864-4B21-A69D-9BE13D262E9C}">
      <dsp:nvSpPr>
        <dsp:cNvPr id="0" name=""/>
        <dsp:cNvSpPr/>
      </dsp:nvSpPr>
      <dsp:spPr>
        <a:xfrm>
          <a:off x="5812681" y="1788253"/>
          <a:ext cx="774830" cy="774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70B7D2-D25B-41DE-8C68-8D0551D68430}">
      <dsp:nvSpPr>
        <dsp:cNvPr id="0" name=""/>
        <dsp:cNvSpPr/>
      </dsp:nvSpPr>
      <dsp:spPr>
        <a:xfrm>
          <a:off x="7154322" y="1507711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Coroczna konferencja organizowana przez ACM (Association for Computing Machinery) organizowana od 1986 roku.</a:t>
          </a:r>
          <a:endParaRPr lang="en-US" sz="1900" kern="1200"/>
        </a:p>
      </dsp:txBody>
      <dsp:txXfrm>
        <a:off x="7154322" y="1507711"/>
        <a:ext cx="3148942" cy="13359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EA78B6-2687-42E1-A1D3-1FC87C743E96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43B279-689D-4CAC-B2F9-557C5FA82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491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43B279-689D-4CAC-B2F9-557C5FA827A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446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F571B-270E-3CA1-3B2D-06A4E2454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09819F-456E-23C3-3E0D-8783148ABB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9F784-B9F2-B9E3-E5AD-5D5D7D620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AC303-C5AE-4A68-85B1-2982A928B1C2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677871-8F2A-650E-57C9-43EBF3942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D50D96-DE0B-620A-EDE1-E43BFC590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CAA65-3712-4D66-A329-C42F3933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707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61926-07AF-2A19-3CB1-6882777B5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C3C0E-0D50-4678-7F24-8FF3DFFBA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B6107-8AA4-73F3-928F-0BBFEE9FF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AC303-C5AE-4A68-85B1-2982A928B1C2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2DDE37-EC25-22FE-4BC1-28F3FFA74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02C36-FE28-BB9D-2E3D-EC3ADAD5F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CAA65-3712-4D66-A329-C42F3933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930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C79E8-4AB8-2D35-BE5C-AF2EAC0E5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EAED91-AA93-3986-A96D-8346C950AD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E74E43-4E39-1281-4F79-0C1AE14AA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AC303-C5AE-4A68-85B1-2982A928B1C2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F50AD7-3445-9EE2-2738-D305AC071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E5436C-61AB-7781-CB43-0DAF884D2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CAA65-3712-4D66-A329-C42F3933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886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58796-7DB0-097B-BB75-AF853E5F2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5AE59-5835-9C3F-20CA-0F3834697A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B2A2C3-B2F1-A4C0-7615-7F86F6C70F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EE9466-9159-74D5-9A7C-885817C2A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AC303-C5AE-4A68-85B1-2982A928B1C2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4FB105-6B69-75FC-5C2C-B1F8609D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B47375-A6E6-7852-8AD7-F57EF916A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CAA65-3712-4D66-A329-C42F3933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302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6B26E-DA53-ADAF-A749-4B02CC2F7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16A381-E6CC-A513-16C6-3110077973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84CFDC-CBBF-6DCC-DC93-5AE22D3AD1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E47076-FA4A-CA3F-CE24-F4EF049479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AAE8A6-4152-F661-71A8-0961821DD4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21F8EC-97B2-A5F1-9091-D736FCC32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AC303-C5AE-4A68-85B1-2982A928B1C2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53A7A5-A1BA-02DA-A9DE-AC603AA3C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59BC96-64BD-6BD1-E4F1-FD522CBDE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CAA65-3712-4D66-A329-C42F3933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494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D6C87-2723-C121-4281-A35A89A1C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F5688F-6324-EA21-D3D3-EBAD59678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AC303-C5AE-4A68-85B1-2982A928B1C2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D15F68-C0DA-6A38-C208-1C48DF1D0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DEC33B-301A-AAC9-62CC-190659B41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CAA65-3712-4D66-A329-C42F3933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744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AC8876-9864-F31C-06B1-26E8CCF79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AC303-C5AE-4A68-85B1-2982A928B1C2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2BB146-71A4-7ECB-D295-A87BF99ED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3944F-5E70-441A-9392-7C9C4B47A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CAA65-3712-4D66-A329-C42F3933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515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9D66D-2F78-2075-21EA-2952CCB84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E8FDA-E5DF-3CCC-F27B-0AF592B037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5482EA-F789-80E3-C033-D2A980B3BA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72EDFD-DC03-0A99-29DE-BDA87611F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AC303-C5AE-4A68-85B1-2982A928B1C2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27D554-85EB-A146-03F7-A10B012FE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E7B4D4-7398-B2AD-5CDB-0F3B26BA2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CAA65-3712-4D66-A329-C42F3933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860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B3F8E-D8CB-6044-401A-C57EE31E9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81CE37-B757-9F0C-E45B-A23523758A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4E1CB1-5018-EDAC-04D5-345A9A19BD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FE9F6-08F6-274B-B94C-1DE632E43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AC303-C5AE-4A68-85B1-2982A928B1C2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CEA8D2-BF11-645A-14B6-C081F4234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A7D7C5-C323-F4DA-B6E0-2FBD2E3DE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CAA65-3712-4D66-A329-C42F3933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84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7E6C0-60AF-ACBD-379D-7842558BF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A889F8-F28A-7B2C-F16C-9DE05DD880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B3CA6-EDF4-54DE-A0E1-42D4CBF43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AC303-C5AE-4A68-85B1-2982A928B1C2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629466-92C7-BA66-5E77-76BCCD54D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DF926-9AC4-0323-C8B7-C74C14A6F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CAA65-3712-4D66-A329-C42F3933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620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AB5241-D503-48FE-AE14-BA924505AF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64B04C-FC16-9C6C-2AAB-446016D6C9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0A77B3-350A-6107-ECA8-F2A0C5133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AC303-C5AE-4A68-85B1-2982A928B1C2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C3A62-57E6-7262-DD4B-ADE7021A2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FC4BE-8407-80AB-8C1E-E41DD3BBF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CAA65-3712-4D66-A329-C42F3933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690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E306BA-F5CF-8588-9B48-3AEE49F6F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82E005-B63D-2F1C-7C35-DF2A8FFCA7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E49D09-0987-AF27-F629-18D4B3DA12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8AC303-C5AE-4A68-85B1-2982A928B1C2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5F5C07-9291-727E-B4B6-9871166BB9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6AB48B-5355-849C-D983-8A7AAC8EF2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8CAA65-3712-4D66-A329-C42F3933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470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SOLID#cite_note-martin-design-principles-4" TargetMode="External"/><Relationship Id="rId3" Type="http://schemas.openxmlformats.org/officeDocument/2006/relationships/hyperlink" Target="https://en.wikipedia.org/wiki/Robert_C._Martin" TargetMode="External"/><Relationship Id="rId7" Type="http://schemas.openxmlformats.org/officeDocument/2006/relationships/hyperlink" Target="https://en.wikipedia.org/wiki/Software_ro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SOLID#cite_note-metz-presentation-2009-1" TargetMode="External"/><Relationship Id="rId5" Type="http://schemas.openxmlformats.org/officeDocument/2006/relationships/hyperlink" Target="https://en.wikipedia.org/wiki/SOLID#cite_note-ub-solid-3" TargetMode="External"/><Relationship Id="rId4" Type="http://schemas.openxmlformats.org/officeDocument/2006/relationships/hyperlink" Target="https://en.wikipedia.org/wiki/SOLID#cite_note-ub-old-web-solid-2" TargetMode="External"/><Relationship Id="rId9" Type="http://schemas.openxmlformats.org/officeDocument/2006/relationships/hyperlink" Target="https://en.wikipedia.org/wiki/SOLID#cite_note-5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e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3.jpe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bertrandmeyer.com/2021/02/26/some-contributions/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C2A41FA8-55B1-7E5C-B137-01E3F5AD8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010" y="0"/>
            <a:ext cx="10721980" cy="68580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BA11482-7CBB-BD22-8F70-A18904A00EC1}"/>
              </a:ext>
            </a:extLst>
          </p:cNvPr>
          <p:cNvSpPr txBox="1"/>
          <p:nvPr/>
        </p:nvSpPr>
        <p:spPr>
          <a:xfrm>
            <a:off x="628098" y="193899"/>
            <a:ext cx="609713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Software engineer and instructor </a:t>
            </a:r>
            <a:r>
              <a:rPr lang="en-US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3" tooltip="Robert C. Martin"/>
              </a:rPr>
              <a:t>Robert C. Martin</a:t>
            </a:r>
            <a:r>
              <a:rPr lang="en-US" b="0" i="0" u="none" strike="noStrike" baseline="30000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4"/>
              </a:rPr>
              <a:t>[2]</a:t>
            </a:r>
            <a:r>
              <a:rPr lang="en-US" b="0" i="0" u="none" strike="noStrike" baseline="30000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5"/>
              </a:rPr>
              <a:t>[3]</a:t>
            </a:r>
            <a:r>
              <a:rPr lang="en-US" b="0" i="0" u="none" strike="noStrike" baseline="30000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6"/>
              </a:rPr>
              <a:t>[1]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introduced the basic principles of SOLID design in his 2000 paper </a:t>
            </a:r>
            <a:r>
              <a:rPr lang="en-US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Design Principles and Design Patterns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about </a:t>
            </a:r>
            <a:r>
              <a:rPr lang="en-US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7" tooltip="Software rot"/>
              </a:rPr>
              <a:t>software rot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</a:t>
            </a:r>
            <a:r>
              <a:rPr lang="en-US" b="0" i="0" u="none" strike="noStrike" baseline="30000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5"/>
              </a:rPr>
              <a:t>[3]</a:t>
            </a:r>
            <a:r>
              <a:rPr lang="en-US" b="0" i="0" u="none" strike="noStrike" baseline="30000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8"/>
              </a:rPr>
              <a:t>[4]</a:t>
            </a:r>
            <a:r>
              <a:rPr lang="en-US" b="0" i="0" baseline="3000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: 2–3 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US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SOLID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acronym was coined around 2004 by Michael Feathers.</a:t>
            </a:r>
            <a:r>
              <a:rPr lang="en-US" b="0" i="0" u="none" strike="noStrike" baseline="30000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9"/>
              </a:rPr>
              <a:t>[5]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660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8D2C3-A656-B516-5733-D4354D9E78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88272"/>
            <a:ext cx="9144000" cy="2387600"/>
          </a:xfrm>
        </p:spPr>
        <p:txBody>
          <a:bodyPr/>
          <a:lstStyle/>
          <a:p>
            <a:r>
              <a:rPr lang="en-US" dirty="0" err="1"/>
              <a:t>Liskov</a:t>
            </a:r>
            <a:r>
              <a:rPr lang="en-US" dirty="0"/>
              <a:t> Substitution principle </a:t>
            </a:r>
            <a:br>
              <a:rPr lang="en-US" dirty="0"/>
            </a:br>
            <a:r>
              <a:rPr lang="en-US" dirty="0"/>
              <a:t>LSP</a:t>
            </a:r>
          </a:p>
        </p:txBody>
      </p:sp>
    </p:spTree>
    <p:extLst>
      <p:ext uri="{BB962C8B-B14F-4D97-AF65-F5344CB8AC3E}">
        <p14:creationId xmlns:p14="http://schemas.microsoft.com/office/powerpoint/2010/main" val="371312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Slide Background">
            <a:extLst>
              <a:ext uri="{FF2B5EF4-FFF2-40B4-BE49-F238E27FC236}">
                <a16:creationId xmlns:a16="http://schemas.microsoft.com/office/drawing/2014/main" id="{924D84CD-5280-4B52-B96E-8EDAA2B20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6BC8DD5A-2177-6753-E2F9-C07A00190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1" cy="1696413"/>
          </a:xfrm>
          <a:prstGeom prst="rect">
            <a:avLst/>
          </a:prstGeom>
          <a:ln>
            <a:noFill/>
          </a:ln>
          <a:effectLst>
            <a:outerShdw blurRad="304800" dist="114300" dir="5460000" sx="92000" sy="92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33F1A4-E80E-5E82-D744-E8149E800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01" y="274104"/>
            <a:ext cx="9906199" cy="1157242"/>
          </a:xfrm>
        </p:spPr>
        <p:txBody>
          <a:bodyPr>
            <a:normAutofit/>
          </a:bodyPr>
          <a:lstStyle/>
          <a:p>
            <a:pPr algn="ctr"/>
            <a:r>
              <a:rPr lang="en-US" sz="4000"/>
              <a:t>Agenda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AC07680-C5C2-3AEC-E0E0-FD41E9A569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6074989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SequentialRowTable"/>
                  </p202:designTagLst>
                </p202:designPr>
              </p:ext>
            </p:extLst>
          </p:nvPr>
        </p:nvGraphicFramePr>
        <p:xfrm>
          <a:off x="1262922" y="2122098"/>
          <a:ext cx="9666156" cy="3875915"/>
        </p:xfrm>
        <a:graphic>
          <a:graphicData uri="http://schemas.openxmlformats.org/drawingml/2006/table">
            <a:tbl>
              <a:tblPr bandRow="1">
                <a:noFill/>
                <a:tableStyleId>{5C22544A-7EE6-4342-B048-85BDC9FD1C3A}</a:tableStyleId>
              </a:tblPr>
              <a:tblGrid>
                <a:gridCol w="1941594">
                  <a:extLst>
                    <a:ext uri="{9D8B030D-6E8A-4147-A177-3AD203B41FA5}">
                      <a16:colId xmlns:a16="http://schemas.microsoft.com/office/drawing/2014/main" val="1849236442"/>
                    </a:ext>
                  </a:extLst>
                </a:gridCol>
                <a:gridCol w="7724562">
                  <a:extLst>
                    <a:ext uri="{9D8B030D-6E8A-4147-A177-3AD203B41FA5}">
                      <a16:colId xmlns:a16="http://schemas.microsoft.com/office/drawing/2014/main" val="2236845104"/>
                    </a:ext>
                  </a:extLst>
                </a:gridCol>
              </a:tblGrid>
              <a:tr h="7751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100" b="1" cap="none" spc="0">
                          <a:solidFill>
                            <a:schemeClr val="bg1"/>
                          </a:solidFill>
                        </a:rPr>
                        <a:t>01</a:t>
                      </a:r>
                    </a:p>
                  </a:txBody>
                  <a:tcPr marL="133142" marR="133142" marT="133142" marB="1331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900" b="0" cap="none" spc="0">
                          <a:solidFill>
                            <a:schemeClr val="tx1"/>
                          </a:solidFill>
                        </a:rPr>
                        <a:t>Historia</a:t>
                      </a:r>
                    </a:p>
                  </a:txBody>
                  <a:tcPr marL="133142" marR="133142" marT="133142" marB="1331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572677"/>
                  </a:ext>
                </a:extLst>
              </a:tr>
              <a:tr h="7751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100" b="1" cap="none" spc="0">
                          <a:solidFill>
                            <a:schemeClr val="bg1"/>
                          </a:solidFill>
                        </a:rPr>
                        <a:t>02</a:t>
                      </a:r>
                    </a:p>
                  </a:txBody>
                  <a:tcPr marL="133142" marR="133142" marT="133142" marB="1331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900" b="0" cap="none" spc="0" dirty="0" err="1">
                          <a:solidFill>
                            <a:schemeClr val="tx1"/>
                          </a:solidFill>
                        </a:rPr>
                        <a:t>Przykłady</a:t>
                      </a:r>
                      <a:endParaRPr lang="en-US" sz="1900" b="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3142" marR="133142" marT="133142" marB="1331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608412"/>
                  </a:ext>
                </a:extLst>
              </a:tr>
              <a:tr h="7751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100" b="1" cap="none" spc="0">
                          <a:solidFill>
                            <a:schemeClr val="bg1"/>
                          </a:solidFill>
                        </a:rPr>
                        <a:t>03</a:t>
                      </a:r>
                    </a:p>
                  </a:txBody>
                  <a:tcPr marL="133142" marR="133142" marT="133142" marB="1331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900" b="0" cap="none" spc="0" dirty="0" err="1">
                          <a:solidFill>
                            <a:schemeClr val="tx1"/>
                          </a:solidFill>
                        </a:rPr>
                        <a:t>Definicja</a:t>
                      </a:r>
                      <a:endParaRPr lang="en-US" sz="1900" b="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3142" marR="133142" marT="133142" marB="1331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6315047"/>
                  </a:ext>
                </a:extLst>
              </a:tr>
              <a:tr h="7751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100" b="1" cap="none" spc="0" dirty="0">
                          <a:solidFill>
                            <a:schemeClr val="bg1"/>
                          </a:solidFill>
                        </a:rPr>
                        <a:t>04</a:t>
                      </a:r>
                    </a:p>
                  </a:txBody>
                  <a:tcPr marL="133142" marR="133142" marT="133142" marB="1331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900" b="0" cap="none" spc="0" dirty="0">
                          <a:solidFill>
                            <a:schemeClr val="tx1"/>
                          </a:solidFill>
                        </a:rPr>
                        <a:t>Drama/Foch</a:t>
                      </a:r>
                    </a:p>
                  </a:txBody>
                  <a:tcPr marL="133142" marR="133142" marT="133142" marB="1331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7828474"/>
                  </a:ext>
                </a:extLst>
              </a:tr>
              <a:tr h="7751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100" b="1" cap="none" spc="0">
                          <a:solidFill>
                            <a:schemeClr val="bg1"/>
                          </a:solidFill>
                        </a:rPr>
                        <a:t>05</a:t>
                      </a:r>
                    </a:p>
                  </a:txBody>
                  <a:tcPr marL="133142" marR="133142" marT="133142" marB="1331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900" b="0" cap="none" spc="0" dirty="0">
                          <a:solidFill>
                            <a:schemeClr val="tx1"/>
                          </a:solidFill>
                        </a:rPr>
                        <a:t>Q/A </a:t>
                      </a:r>
                      <a:r>
                        <a:rPr lang="en-US" sz="1900" b="0" cap="none" spc="0" dirty="0" err="1">
                          <a:solidFill>
                            <a:schemeClr val="tx1"/>
                          </a:solidFill>
                        </a:rPr>
                        <a:t>dyskusja</a:t>
                      </a:r>
                      <a:r>
                        <a:rPr lang="en-US" sz="1900" b="0" cap="none" spc="0" dirty="0">
                          <a:solidFill>
                            <a:schemeClr val="tx1"/>
                          </a:solidFill>
                        </a:rPr>
                        <a:t>!!!</a:t>
                      </a:r>
                    </a:p>
                  </a:txBody>
                  <a:tcPr marL="133142" marR="133142" marT="133142" marB="1331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40859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6153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3" name="Rectangle 1042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4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57DA78-6439-EB0A-F3F8-7819F2A8242A}"/>
              </a:ext>
            </a:extLst>
          </p:cNvPr>
          <p:cNvSpPr txBox="1"/>
          <p:nvPr/>
        </p:nvSpPr>
        <p:spPr>
          <a:xfrm>
            <a:off x="640080" y="2872899"/>
            <a:ext cx="4243589" cy="3320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Barbara </a:t>
            </a:r>
            <a:r>
              <a:rPr lang="en-US" sz="1500" dirty="0" err="1"/>
              <a:t>Liskov</a:t>
            </a:r>
            <a:r>
              <a:rPr lang="en-US" sz="1500" dirty="0"/>
              <a:t> (</a:t>
            </a:r>
            <a:r>
              <a:rPr lang="en-US" sz="1500" dirty="0" err="1"/>
              <a:t>ur</a:t>
            </a:r>
            <a:r>
              <a:rPr lang="en-US" sz="1500" dirty="0"/>
              <a:t>. 7 </a:t>
            </a:r>
            <a:r>
              <a:rPr lang="en-US" sz="1500" dirty="0" err="1"/>
              <a:t>listopada</a:t>
            </a:r>
            <a:r>
              <a:rPr lang="en-US" sz="1500" dirty="0"/>
              <a:t> 1939 r.) jest </a:t>
            </a:r>
            <a:r>
              <a:rPr lang="en-US" sz="1500" dirty="0" err="1"/>
              <a:t>amerykańskim</a:t>
            </a:r>
            <a:r>
              <a:rPr lang="en-US" sz="1500" dirty="0"/>
              <a:t> </a:t>
            </a:r>
            <a:r>
              <a:rPr lang="en-US" sz="1500" dirty="0" err="1"/>
              <a:t>naukowcem</a:t>
            </a:r>
            <a:r>
              <a:rPr lang="en-US" sz="1500" dirty="0"/>
              <a:t> </a:t>
            </a:r>
            <a:r>
              <a:rPr lang="en-US" sz="1500" dirty="0" err="1"/>
              <a:t>zajmującym</a:t>
            </a:r>
            <a:r>
              <a:rPr lang="en-US" sz="1500" dirty="0"/>
              <a:t> </a:t>
            </a:r>
            <a:r>
              <a:rPr lang="en-US" sz="1500" dirty="0" err="1"/>
              <a:t>się</a:t>
            </a:r>
            <a:r>
              <a:rPr lang="en-US" sz="1500" dirty="0"/>
              <a:t> </a:t>
            </a:r>
            <a:r>
              <a:rPr lang="en-US" sz="1500" dirty="0" err="1"/>
              <a:t>informatyką</a:t>
            </a:r>
            <a:r>
              <a:rPr lang="en-US" sz="1500" dirty="0"/>
              <a:t> </a:t>
            </a:r>
            <a:r>
              <a:rPr lang="en-US" sz="1500" dirty="0" err="1"/>
              <a:t>i</a:t>
            </a:r>
            <a:r>
              <a:rPr lang="en-US" sz="1500" dirty="0"/>
              <a:t> </a:t>
            </a:r>
            <a:r>
              <a:rPr lang="en-US" sz="1500" dirty="0" err="1"/>
              <a:t>jedną</a:t>
            </a:r>
            <a:r>
              <a:rPr lang="en-US" sz="1500" dirty="0"/>
              <a:t> z </a:t>
            </a:r>
            <a:r>
              <a:rPr lang="en-US" sz="1500" dirty="0" err="1"/>
              <a:t>najbardziej</a:t>
            </a:r>
            <a:r>
              <a:rPr lang="en-US" sz="1500" dirty="0"/>
              <a:t> </a:t>
            </a:r>
            <a:r>
              <a:rPr lang="en-US" sz="1500" dirty="0" err="1"/>
              <a:t>wpływowych</a:t>
            </a:r>
            <a:r>
              <a:rPr lang="en-US" sz="1500" dirty="0"/>
              <a:t> </a:t>
            </a:r>
            <a:r>
              <a:rPr lang="en-US" sz="1500" dirty="0" err="1"/>
              <a:t>postaci</a:t>
            </a:r>
            <a:r>
              <a:rPr lang="en-US" sz="1500" dirty="0"/>
              <a:t> w </a:t>
            </a:r>
            <a:r>
              <a:rPr lang="en-US" sz="1500" dirty="0" err="1"/>
              <a:t>dziedzinie</a:t>
            </a:r>
            <a:r>
              <a:rPr lang="en-US" sz="1500" dirty="0"/>
              <a:t> </a:t>
            </a:r>
            <a:r>
              <a:rPr lang="en-US" sz="1500" dirty="0" err="1"/>
              <a:t>podstaw</a:t>
            </a:r>
            <a:r>
              <a:rPr lang="en-US" sz="1500" dirty="0"/>
              <a:t> </a:t>
            </a:r>
            <a:r>
              <a:rPr lang="en-US" sz="1500" dirty="0" err="1"/>
              <a:t>współczesnej</a:t>
            </a:r>
            <a:r>
              <a:rPr lang="en-US" sz="1500" dirty="0"/>
              <a:t> </a:t>
            </a:r>
            <a:r>
              <a:rPr lang="en-US" sz="1500" dirty="0" err="1"/>
              <a:t>inżynierii</a:t>
            </a:r>
            <a:r>
              <a:rPr lang="en-US" sz="1500" dirty="0"/>
              <a:t> </a:t>
            </a:r>
            <a:r>
              <a:rPr lang="en-US" sz="1500" dirty="0" err="1"/>
              <a:t>oprogramowania</a:t>
            </a:r>
            <a:r>
              <a:rPr lang="en-US" sz="1500" dirty="0"/>
              <a:t>. Jest </a:t>
            </a:r>
            <a:r>
              <a:rPr lang="en-US" sz="1500" dirty="0" err="1"/>
              <a:t>najbardziej</a:t>
            </a:r>
            <a:r>
              <a:rPr lang="en-US" sz="1500" dirty="0"/>
              <a:t> </a:t>
            </a:r>
            <a:r>
              <a:rPr lang="en-US" sz="1500" dirty="0" err="1"/>
              <a:t>znana</a:t>
            </a:r>
            <a:r>
              <a:rPr lang="en-US" sz="1500" dirty="0"/>
              <a:t> ze </a:t>
            </a:r>
            <a:r>
              <a:rPr lang="en-US" sz="1500" dirty="0" err="1"/>
              <a:t>swojej</a:t>
            </a:r>
            <a:r>
              <a:rPr lang="en-US" sz="1500" dirty="0"/>
              <a:t> </a:t>
            </a:r>
            <a:r>
              <a:rPr lang="en-US" sz="1500" dirty="0" err="1"/>
              <a:t>pracy</a:t>
            </a:r>
            <a:r>
              <a:rPr lang="en-US" sz="1500" dirty="0"/>
              <a:t> </a:t>
            </a:r>
            <a:r>
              <a:rPr lang="en-US" sz="1500" dirty="0" err="1"/>
              <a:t>nad</a:t>
            </a:r>
            <a:r>
              <a:rPr lang="en-US" sz="1500" dirty="0"/>
              <a:t> </a:t>
            </a:r>
            <a:r>
              <a:rPr lang="en-US" sz="1500" dirty="0" err="1"/>
              <a:t>abstrakcją</a:t>
            </a:r>
            <a:r>
              <a:rPr lang="en-US" sz="1500" dirty="0"/>
              <a:t> </a:t>
            </a:r>
            <a:r>
              <a:rPr lang="en-US" sz="1500" dirty="0" err="1"/>
              <a:t>danych</a:t>
            </a:r>
            <a:r>
              <a:rPr lang="en-US" sz="1500" dirty="0"/>
              <a:t>, </a:t>
            </a:r>
            <a:r>
              <a:rPr lang="en-US" sz="1500" dirty="0" err="1"/>
              <a:t>systemami</a:t>
            </a:r>
            <a:r>
              <a:rPr lang="en-US" sz="1500" dirty="0"/>
              <a:t> </a:t>
            </a:r>
            <a:r>
              <a:rPr lang="en-US" sz="1500" dirty="0" err="1"/>
              <a:t>rozproszonymi</a:t>
            </a:r>
            <a:r>
              <a:rPr lang="en-US" sz="1500" dirty="0"/>
              <a:t> </a:t>
            </a:r>
            <a:r>
              <a:rPr lang="en-US" sz="1500" dirty="0" err="1"/>
              <a:t>i</a:t>
            </a:r>
            <a:r>
              <a:rPr lang="en-US" sz="1500" dirty="0"/>
              <a:t> </a:t>
            </a:r>
            <a:r>
              <a:rPr lang="en-US" sz="1500" dirty="0" err="1"/>
              <a:t>projektowaniem</a:t>
            </a:r>
            <a:r>
              <a:rPr lang="en-US" sz="1500" dirty="0"/>
              <a:t> </a:t>
            </a:r>
            <a:r>
              <a:rPr lang="en-US" sz="1500" dirty="0" err="1"/>
              <a:t>języków</a:t>
            </a:r>
            <a:r>
              <a:rPr lang="en-US" sz="1500" dirty="0"/>
              <a:t> </a:t>
            </a:r>
            <a:r>
              <a:rPr lang="en-US" sz="1500" dirty="0" err="1"/>
              <a:t>programowania</a:t>
            </a:r>
            <a:r>
              <a:rPr lang="en-US" sz="1500" dirty="0"/>
              <a:t>. </a:t>
            </a:r>
            <a:r>
              <a:rPr lang="en-US" sz="1500" dirty="0" err="1"/>
              <a:t>Liskov</a:t>
            </a:r>
            <a:r>
              <a:rPr lang="en-US" sz="1500" dirty="0"/>
              <a:t> </a:t>
            </a:r>
            <a:r>
              <a:rPr lang="en-US" sz="1500" dirty="0" err="1"/>
              <a:t>uzyskała</a:t>
            </a:r>
            <a:r>
              <a:rPr lang="en-US" sz="1500" dirty="0"/>
              <a:t> </a:t>
            </a:r>
            <a:r>
              <a:rPr lang="en-US" sz="1500" dirty="0" err="1"/>
              <a:t>doktorat</a:t>
            </a:r>
            <a:r>
              <a:rPr lang="en-US" sz="1500" dirty="0"/>
              <a:t> z </a:t>
            </a:r>
            <a:r>
              <a:rPr lang="en-US" sz="1500" dirty="0" err="1"/>
              <a:t>informatyki</a:t>
            </a:r>
            <a:r>
              <a:rPr lang="en-US" sz="1500" dirty="0"/>
              <a:t> </a:t>
            </a:r>
            <a:r>
              <a:rPr lang="en-US" sz="1500" dirty="0" err="1"/>
              <a:t>na</a:t>
            </a:r>
            <a:r>
              <a:rPr lang="en-US" sz="1500" dirty="0"/>
              <a:t> </a:t>
            </a:r>
            <a:r>
              <a:rPr lang="en-US" sz="1500" dirty="0" err="1"/>
              <a:t>Uniwersytecie</a:t>
            </a:r>
            <a:r>
              <a:rPr lang="en-US" sz="1500" dirty="0"/>
              <a:t> </a:t>
            </a:r>
            <a:r>
              <a:rPr lang="en-US" sz="1500" dirty="0" err="1"/>
              <a:t>Stanforda</a:t>
            </a:r>
            <a:r>
              <a:rPr lang="en-US" sz="1500" dirty="0"/>
              <a:t> w 1968 </a:t>
            </a:r>
            <a:r>
              <a:rPr lang="en-US" sz="1500" dirty="0" err="1"/>
              <a:t>roku</a:t>
            </a:r>
            <a:r>
              <a:rPr lang="en-US" sz="1500" dirty="0"/>
              <a:t>, </a:t>
            </a:r>
            <a:r>
              <a:rPr lang="en-US" sz="1500" dirty="0" err="1"/>
              <a:t>stając</a:t>
            </a:r>
            <a:r>
              <a:rPr lang="en-US" sz="1500" dirty="0"/>
              <a:t> </a:t>
            </a:r>
            <a:r>
              <a:rPr lang="en-US" sz="1500" dirty="0" err="1"/>
              <a:t>się</a:t>
            </a:r>
            <a:r>
              <a:rPr lang="en-US" sz="1500" dirty="0"/>
              <a:t> </a:t>
            </a:r>
            <a:r>
              <a:rPr lang="en-US" sz="1500" dirty="0" err="1"/>
              <a:t>jedną</a:t>
            </a:r>
            <a:r>
              <a:rPr lang="en-US" sz="1500" dirty="0"/>
              <a:t> z </a:t>
            </a:r>
            <a:r>
              <a:rPr lang="en-US" sz="1500" dirty="0" err="1"/>
              <a:t>pierwszych</a:t>
            </a:r>
            <a:r>
              <a:rPr lang="en-US" sz="1500" dirty="0"/>
              <a:t> </a:t>
            </a:r>
            <a:r>
              <a:rPr lang="en-US" sz="1500" dirty="0" err="1"/>
              <a:t>kobiet</a:t>
            </a:r>
            <a:r>
              <a:rPr lang="en-US" sz="1500" dirty="0"/>
              <a:t> w </a:t>
            </a:r>
            <a:r>
              <a:rPr lang="en-US" sz="1500" dirty="0" err="1"/>
              <a:t>Stanach</a:t>
            </a:r>
            <a:r>
              <a:rPr lang="en-US" sz="1500" dirty="0"/>
              <a:t> </a:t>
            </a:r>
            <a:r>
              <a:rPr lang="en-US" sz="1500" dirty="0" err="1"/>
              <a:t>Zjednoczonych</a:t>
            </a:r>
            <a:r>
              <a:rPr lang="en-US" sz="1500" dirty="0"/>
              <a:t>, </a:t>
            </a:r>
            <a:r>
              <a:rPr lang="en-US" sz="1500" dirty="0" err="1"/>
              <a:t>które</a:t>
            </a:r>
            <a:r>
              <a:rPr lang="en-US" sz="1500" dirty="0"/>
              <a:t> </a:t>
            </a:r>
            <a:r>
              <a:rPr lang="en-US" sz="1500" dirty="0" err="1"/>
              <a:t>uzyskały</a:t>
            </a:r>
            <a:r>
              <a:rPr lang="en-US" sz="1500" dirty="0"/>
              <a:t> </a:t>
            </a:r>
            <a:r>
              <a:rPr lang="en-US" sz="1500" dirty="0" err="1"/>
              <a:t>doktorat</a:t>
            </a:r>
            <a:r>
              <a:rPr lang="en-US" sz="1500" dirty="0"/>
              <a:t> z </a:t>
            </a:r>
            <a:r>
              <a:rPr lang="en-US" sz="1500" dirty="0" err="1"/>
              <a:t>informatyki</a:t>
            </a:r>
            <a:r>
              <a:rPr lang="en-US" sz="1500" dirty="0"/>
              <a:t>. </a:t>
            </a:r>
            <a:r>
              <a:rPr lang="en-US" sz="1500" dirty="0" err="1"/>
              <a:t>Większość</a:t>
            </a:r>
            <a:r>
              <a:rPr lang="en-US" sz="1500" dirty="0"/>
              <a:t> </a:t>
            </a:r>
            <a:r>
              <a:rPr lang="en-US" sz="1500" dirty="0" err="1"/>
              <a:t>swojej</a:t>
            </a:r>
            <a:r>
              <a:rPr lang="en-US" sz="1500" dirty="0"/>
              <a:t> </a:t>
            </a:r>
            <a:r>
              <a:rPr lang="en-US" sz="1500" dirty="0" err="1"/>
              <a:t>kariery</a:t>
            </a:r>
            <a:r>
              <a:rPr lang="en-US" sz="1500" dirty="0"/>
              <a:t> </a:t>
            </a:r>
            <a:r>
              <a:rPr lang="en-US" sz="1500" dirty="0" err="1"/>
              <a:t>spędziła</a:t>
            </a:r>
            <a:r>
              <a:rPr lang="en-US" sz="1500" dirty="0"/>
              <a:t> w MIT, </a:t>
            </a:r>
            <a:r>
              <a:rPr lang="en-US" sz="1500" dirty="0" err="1"/>
              <a:t>gdzie</a:t>
            </a:r>
            <a:r>
              <a:rPr lang="en-US" sz="1500" dirty="0"/>
              <a:t> </a:t>
            </a:r>
            <a:r>
              <a:rPr lang="en-US" sz="1500" dirty="0" err="1"/>
              <a:t>kierowała</a:t>
            </a:r>
            <a:r>
              <a:rPr lang="en-US" sz="1500" dirty="0"/>
              <a:t> </a:t>
            </a:r>
            <a:r>
              <a:rPr lang="en-US" sz="1500" dirty="0" err="1"/>
              <a:t>dużymi</a:t>
            </a:r>
            <a:r>
              <a:rPr lang="en-US" sz="1500" dirty="0"/>
              <a:t> </a:t>
            </a:r>
            <a:r>
              <a:rPr lang="en-US" sz="1500" dirty="0" err="1"/>
              <a:t>projektami</a:t>
            </a:r>
            <a:r>
              <a:rPr lang="en-US" sz="1500" dirty="0"/>
              <a:t> </a:t>
            </a:r>
            <a:r>
              <a:rPr lang="en-US" sz="1500" dirty="0" err="1"/>
              <a:t>badawczymi</a:t>
            </a:r>
            <a:r>
              <a:rPr lang="en-US" sz="1500" dirty="0"/>
              <a:t> </a:t>
            </a:r>
            <a:r>
              <a:rPr lang="en-US" sz="1500" dirty="0" err="1"/>
              <a:t>i</a:t>
            </a:r>
            <a:r>
              <a:rPr lang="en-US" sz="1500" dirty="0"/>
              <a:t> </a:t>
            </a:r>
            <a:r>
              <a:rPr lang="en-US" sz="1500" dirty="0" err="1"/>
              <a:t>była</a:t>
            </a:r>
            <a:r>
              <a:rPr lang="en-US" sz="1500" dirty="0"/>
              <a:t> </a:t>
            </a:r>
            <a:r>
              <a:rPr lang="en-US" sz="1500" dirty="0" err="1"/>
              <a:t>mentorką</a:t>
            </a:r>
            <a:r>
              <a:rPr lang="en-US" sz="1500" dirty="0"/>
              <a:t> </a:t>
            </a:r>
            <a:r>
              <a:rPr lang="en-US" sz="1500" dirty="0" err="1"/>
              <a:t>wielu</a:t>
            </a:r>
            <a:r>
              <a:rPr lang="en-US" sz="1500" dirty="0"/>
              <a:t> </a:t>
            </a:r>
            <a:r>
              <a:rPr lang="en-US" sz="1500" dirty="0" err="1"/>
              <a:t>pokoleń</a:t>
            </a:r>
            <a:r>
              <a:rPr lang="en-US" sz="1500" dirty="0"/>
              <a:t> </a:t>
            </a:r>
            <a:r>
              <a:rPr lang="en-US" sz="1500" dirty="0" err="1"/>
              <a:t>informatyków</a:t>
            </a:r>
            <a:r>
              <a:rPr lang="en-US" sz="1500" dirty="0"/>
              <a:t>. </a:t>
            </a:r>
            <a:r>
              <a:rPr lang="en-US" sz="1500" dirty="0" err="1"/>
              <a:t>Nagroda</a:t>
            </a:r>
            <a:r>
              <a:rPr lang="en-US" sz="1500" dirty="0"/>
              <a:t> </a:t>
            </a:r>
            <a:r>
              <a:rPr lang="en-US" sz="1500" dirty="0" err="1"/>
              <a:t>Turinga</a:t>
            </a:r>
            <a:r>
              <a:rPr lang="en-US" sz="1500" dirty="0"/>
              <a:t> 2008 r.</a:t>
            </a:r>
          </a:p>
        </p:txBody>
      </p:sp>
      <p:pic>
        <p:nvPicPr>
          <p:cNvPr id="1026" name="Picture 2" descr="The Most Influential Women Today | Academic Influence">
            <a:extLst>
              <a:ext uri="{FF2B5EF4-FFF2-40B4-BE49-F238E27FC236}">
                <a16:creationId xmlns:a16="http://schemas.microsoft.com/office/drawing/2014/main" id="{997DF3A9-15BA-EDA0-B65E-477EDCB4B9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6" b="27"/>
          <a:stretch>
            <a:fillRect/>
          </a:stretch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8040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E5219F-D738-ECA7-014E-237B044A3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1987.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1248FBAF-493D-D815-0846-4CC462F6BE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800760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67961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C46C4D6-C474-4E92-B52E-944C1118F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90001B-2A0C-9201-6DFD-01C0FA33C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643467"/>
            <a:ext cx="3888526" cy="180052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Addendum to the Proceedings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C0F83C-5F6A-CF4F-8E29-609BBF5FE0CC}"/>
              </a:ext>
            </a:extLst>
          </p:cNvPr>
          <p:cNvSpPr txBox="1"/>
          <p:nvPr/>
        </p:nvSpPr>
        <p:spPr>
          <a:xfrm>
            <a:off x="838201" y="2623381"/>
            <a:ext cx="3888528" cy="35535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O czym to jest: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Abstrakcja danych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Specyfikacja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Dziedziczenie i hierarchia typów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Polimorizm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  <p:pic>
        <p:nvPicPr>
          <p:cNvPr id="5" name="Picture 4" descr="A close-up of a document&#10;&#10;AI-generated content may be incorrect.">
            <a:extLst>
              <a:ext uri="{FF2B5EF4-FFF2-40B4-BE49-F238E27FC236}">
                <a16:creationId xmlns:a16="http://schemas.microsoft.com/office/drawing/2014/main" id="{41A5483A-90B5-8FAC-04FF-FF37E9798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8812" y="643234"/>
            <a:ext cx="4731894" cy="559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443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BE26CE-D583-AD32-CDE6-06ABE2E5D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80" y="235528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dirty="0" err="1"/>
              <a:t>Wczesna</a:t>
            </a:r>
            <a:r>
              <a:rPr lang="en-US" sz="6600" dirty="0"/>
              <a:t> </a:t>
            </a:r>
            <a:r>
              <a:rPr lang="en-US" sz="6600" dirty="0" err="1"/>
              <a:t>definicja</a:t>
            </a:r>
            <a:endParaRPr lang="en-US" sz="6600" dirty="0"/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close-up of a document&#10;&#10;AI-generated content may be incorrect.">
            <a:extLst>
              <a:ext uri="{FF2B5EF4-FFF2-40B4-BE49-F238E27FC236}">
                <a16:creationId xmlns:a16="http://schemas.microsoft.com/office/drawing/2014/main" id="{76041A56-A533-319B-5CC5-729684C042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130" y="2021371"/>
            <a:ext cx="6783221" cy="2967659"/>
          </a:xfrm>
          <a:prstGeom prst="rect">
            <a:avLst/>
          </a:prstGeom>
        </p:spPr>
      </p:pic>
      <p:pic>
        <p:nvPicPr>
          <p:cNvPr id="7" name="Picture 6" descr="A text on a piece of paper&#10;&#10;AI-generated content may be incorrect.">
            <a:extLst>
              <a:ext uri="{FF2B5EF4-FFF2-40B4-BE49-F238E27FC236}">
                <a16:creationId xmlns:a16="http://schemas.microsoft.com/office/drawing/2014/main" id="{991F4FC5-EFAC-E8A7-3208-DEA664CDB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088" y="4989030"/>
            <a:ext cx="6539315" cy="1716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759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8B9A5-4CAB-A0E2-0CDA-2EDDB444F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 err="1"/>
              <a:t>Przykłady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316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8C886788-700E-4D20-9F80-E0E96837A2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57" name="Freeform: Shape 2056">
            <a:extLst>
              <a:ext uri="{FF2B5EF4-FFF2-40B4-BE49-F238E27FC236}">
                <a16:creationId xmlns:a16="http://schemas.microsoft.com/office/drawing/2014/main" id="{1850674C-4E08-4C62-A3E2-6337FE4F7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059" name="Freeform: Shape 2058">
            <a:extLst>
              <a:ext uri="{FF2B5EF4-FFF2-40B4-BE49-F238E27FC236}">
                <a16:creationId xmlns:a16="http://schemas.microsoft.com/office/drawing/2014/main" id="{BCE4FF05-2B0C-4C97-A9B4-E163085A90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908D728-9E33-0FBF-071E-EC53B706BFF8}"/>
              </a:ext>
            </a:extLst>
          </p:cNvPr>
          <p:cNvSpPr txBox="1">
            <a:spLocks/>
          </p:cNvSpPr>
          <p:nvPr/>
        </p:nvSpPr>
        <p:spPr>
          <a:xfrm>
            <a:off x="475488" y="1124712"/>
            <a:ext cx="4023360" cy="3200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800"/>
              <a:t>1994 r.</a:t>
            </a:r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529C2A7A-A6B6-4A56-B11C-8E967D88A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E7EB6DDB-22B6-C485-8915-5347FBF95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6903" y="1430405"/>
            <a:ext cx="5989326" cy="1332624"/>
          </a:xfrm>
          <a:prstGeom prst="rect">
            <a:avLst/>
          </a:prstGeom>
        </p:spPr>
      </p:pic>
      <p:sp>
        <p:nvSpPr>
          <p:cNvPr id="2063" name="Rectangle 2062">
            <a:extLst>
              <a:ext uri="{FF2B5EF4-FFF2-40B4-BE49-F238E27FC236}">
                <a16:creationId xmlns:a16="http://schemas.microsoft.com/office/drawing/2014/main" id="{FDBD7205-E536-4134-8768-AC3E1A3C5E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50" name="Picture 2" descr="Jeannette Wing headshot">
            <a:extLst>
              <a:ext uri="{FF2B5EF4-FFF2-40B4-BE49-F238E27FC236}">
                <a16:creationId xmlns:a16="http://schemas.microsoft.com/office/drawing/2014/main" id="{80B71482-12B9-A238-4570-2E0DC6FD26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84699" y="3827749"/>
            <a:ext cx="1562526" cy="2340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08B55B41-B978-31F6-C14C-01FA94F2C5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5013" y="4506486"/>
            <a:ext cx="2871216" cy="983391"/>
          </a:xfrm>
          <a:prstGeom prst="rect">
            <a:avLst/>
          </a:prstGeom>
        </p:spPr>
      </p:pic>
      <p:pic>
        <p:nvPicPr>
          <p:cNvPr id="9" name="Picture 2" descr="The Most Influential Women Today | Academic Influence">
            <a:extLst>
              <a:ext uri="{FF2B5EF4-FFF2-40B4-BE49-F238E27FC236}">
                <a16:creationId xmlns:a16="http://schemas.microsoft.com/office/drawing/2014/main" id="{8992CC3A-E43B-02B5-23F7-2AC973530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6" b="27"/>
          <a:stretch>
            <a:fillRect/>
          </a:stretch>
        </p:blipFill>
        <p:spPr bwMode="auto">
          <a:xfrm>
            <a:off x="4959047" y="3837646"/>
            <a:ext cx="1459533" cy="1455123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86477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5E5ACCB-F8DC-5301-6463-0056CB077AE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3864" r="9091" b="1952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272BA3-D14E-84D4-DA00-3CEB30519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A Behavioral Notion of  Subtyping</a:t>
            </a:r>
          </a:p>
        </p:txBody>
      </p:sp>
      <p:graphicFrame>
        <p:nvGraphicFramePr>
          <p:cNvPr id="8" name="Rectangle 3">
            <a:extLst>
              <a:ext uri="{FF2B5EF4-FFF2-40B4-BE49-F238E27FC236}">
                <a16:creationId xmlns:a16="http://schemas.microsoft.com/office/drawing/2014/main" id="{C4C8F8ED-A0E2-A568-41E6-D4AE02F727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95298"/>
              </p:ext>
            </p:extLst>
          </p:nvPr>
        </p:nvGraphicFramePr>
        <p:xfrm>
          <a:off x="838200" y="1825624"/>
          <a:ext cx="10515600" cy="5032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BD5197D-B141-65E7-E4DC-6F5B80610B9B}"/>
              </a:ext>
            </a:extLst>
          </p:cNvPr>
          <p:cNvSpPr txBox="1"/>
          <p:nvPr/>
        </p:nvSpPr>
        <p:spPr>
          <a:xfrm>
            <a:off x="838200" y="1757930"/>
            <a:ext cx="1164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Invariants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81FE59-F216-0C7F-97ED-FC416E447EA1}"/>
              </a:ext>
            </a:extLst>
          </p:cNvPr>
          <p:cNvSpPr txBox="1"/>
          <p:nvPr/>
        </p:nvSpPr>
        <p:spPr>
          <a:xfrm>
            <a:off x="2092036" y="2393850"/>
            <a:ext cx="1954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Abstract Function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8E2ED6-45FB-4741-E01F-48EFF56F546B}"/>
              </a:ext>
            </a:extLst>
          </p:cNvPr>
          <p:cNvSpPr txBox="1"/>
          <p:nvPr/>
        </p:nvSpPr>
        <p:spPr>
          <a:xfrm>
            <a:off x="4274127" y="3059668"/>
            <a:ext cx="1345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Constraints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19F3AF-2EDC-BB2D-6EE6-EDB736C9CC66}"/>
              </a:ext>
            </a:extLst>
          </p:cNvPr>
          <p:cNvSpPr txBox="1"/>
          <p:nvPr/>
        </p:nvSpPr>
        <p:spPr>
          <a:xfrm>
            <a:off x="5619880" y="4417414"/>
            <a:ext cx="1968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History properties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7E2250-C12D-91E1-6B37-9A2FEB8EF48D}"/>
              </a:ext>
            </a:extLst>
          </p:cNvPr>
          <p:cNvSpPr txBox="1"/>
          <p:nvPr/>
        </p:nvSpPr>
        <p:spPr>
          <a:xfrm>
            <a:off x="7935450" y="2393850"/>
            <a:ext cx="1644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Pre-conditions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FAB15E-1CA8-0381-1000-B2E7366997B2}"/>
              </a:ext>
            </a:extLst>
          </p:cNvPr>
          <p:cNvSpPr txBox="1"/>
          <p:nvPr/>
        </p:nvSpPr>
        <p:spPr>
          <a:xfrm>
            <a:off x="8626937" y="3334820"/>
            <a:ext cx="1753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Post-conditions</a:t>
            </a:r>
          </a:p>
        </p:txBody>
      </p:sp>
    </p:spTree>
    <p:extLst>
      <p:ext uri="{BB962C8B-B14F-4D97-AF65-F5344CB8AC3E}">
        <p14:creationId xmlns:p14="http://schemas.microsoft.com/office/powerpoint/2010/main" val="1983797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18889-9F24-24AC-AF08-48D7F44B9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925CAAC-0AD5-F36E-145C-221760582260}"/>
              </a:ext>
            </a:extLst>
          </p:cNvPr>
          <p:cNvSpPr txBox="1">
            <a:spLocks/>
          </p:cNvSpPr>
          <p:nvPr/>
        </p:nvSpPr>
        <p:spPr>
          <a:xfrm>
            <a:off x="475488" y="1124712"/>
            <a:ext cx="4023360" cy="3200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800" dirty="0"/>
              <a:t>1999 r.</a:t>
            </a:r>
          </a:p>
        </p:txBody>
      </p:sp>
      <p:pic>
        <p:nvPicPr>
          <p:cNvPr id="2050" name="Picture 2" descr="Jeannette Wing headshot">
            <a:extLst>
              <a:ext uri="{FF2B5EF4-FFF2-40B4-BE49-F238E27FC236}">
                <a16:creationId xmlns:a16="http://schemas.microsoft.com/office/drawing/2014/main" id="{4198EF7A-4A36-CC8C-E929-5D58970F0D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84699" y="3827749"/>
            <a:ext cx="1562526" cy="2340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The Most Influential Women Today | Academic Influence">
            <a:extLst>
              <a:ext uri="{FF2B5EF4-FFF2-40B4-BE49-F238E27FC236}">
                <a16:creationId xmlns:a16="http://schemas.microsoft.com/office/drawing/2014/main" id="{C94F3EF0-C61C-3811-16C0-6E84374FC0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6" b="27"/>
          <a:stretch>
            <a:fillRect/>
          </a:stretch>
        </p:blipFill>
        <p:spPr bwMode="auto">
          <a:xfrm>
            <a:off x="4959047" y="3837646"/>
            <a:ext cx="1459533" cy="1455123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close-up of a document&#10;&#10;AI-generated content may be incorrect.">
            <a:extLst>
              <a:ext uri="{FF2B5EF4-FFF2-40B4-BE49-F238E27FC236}">
                <a16:creationId xmlns:a16="http://schemas.microsoft.com/office/drawing/2014/main" id="{BF352F6D-4F62-68DA-99FA-EC3968AC0C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7483" y="686403"/>
            <a:ext cx="7182852" cy="233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815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BEF9D93-B033-694F-ED54-1AD4F2EE1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494" y="305606"/>
            <a:ext cx="8888065" cy="85737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 descr="A yellow text on a white background&#10;&#10;AI-generated content may be incorrect.">
            <a:extLst>
              <a:ext uri="{FF2B5EF4-FFF2-40B4-BE49-F238E27FC236}">
                <a16:creationId xmlns:a16="http://schemas.microsoft.com/office/drawing/2014/main" id="{7811D404-51B5-F8B2-F990-FBDE26F532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586" y="1409154"/>
            <a:ext cx="10383699" cy="16290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12" descr="A yellow and black text&#10;&#10;AI-generated content may be incorrect.">
            <a:extLst>
              <a:ext uri="{FF2B5EF4-FFF2-40B4-BE49-F238E27FC236}">
                <a16:creationId xmlns:a16="http://schemas.microsoft.com/office/drawing/2014/main" id="{15A639EB-EDB6-71E6-1BF0-EE7428AD6A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586" y="3175627"/>
            <a:ext cx="7528157" cy="130631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42B87D9-6A2C-968C-A0E6-3C93C79E9C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256" y="4619415"/>
            <a:ext cx="10688542" cy="10288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24E485A-726E-2B2E-6432-F6A618A033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5848" y="5835321"/>
            <a:ext cx="10555173" cy="59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6968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white paper with yellow text&#10;&#10;AI-generated content may be incorrect.">
            <a:extLst>
              <a:ext uri="{FF2B5EF4-FFF2-40B4-BE49-F238E27FC236}">
                <a16:creationId xmlns:a16="http://schemas.microsoft.com/office/drawing/2014/main" id="{855FC521-00B8-5D5F-F073-335D458D2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547" y="0"/>
            <a:ext cx="96829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8021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571899-C6D8-951F-8DDB-277A08A74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8DF54-7240-E98C-57E0-198B9E062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 err="1"/>
              <a:t>Przykłady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79605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04C268-3E3A-00F4-E7DF-B9B90D076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CF6F1-FEAB-021F-5E8A-B5E8FF8E28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r>
              <a:rPr lang="en-US" dirty="0"/>
              <a:t>Drama</a:t>
            </a:r>
          </a:p>
        </p:txBody>
      </p:sp>
    </p:spTree>
    <p:extLst>
      <p:ext uri="{BB962C8B-B14F-4D97-AF65-F5344CB8AC3E}">
        <p14:creationId xmlns:p14="http://schemas.microsoft.com/office/powerpoint/2010/main" val="19595612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163CE2-3ACE-E9C1-AC42-61C0BA6CF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89" y="204040"/>
            <a:ext cx="6453029" cy="61769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2A8E4A-55FD-34DA-92B3-CD92F604F479}"/>
              </a:ext>
            </a:extLst>
          </p:cNvPr>
          <p:cNvSpPr txBox="1"/>
          <p:nvPr/>
        </p:nvSpPr>
        <p:spPr>
          <a:xfrm>
            <a:off x="382289" y="6381003"/>
            <a:ext cx="6097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Some contributions - Bertrand Meyer's technology+ blog</a:t>
            </a:r>
            <a:endParaRPr lang="en-US" dirty="0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0FD85808-E8DA-E9A3-6AD9-DDECC6203B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6602" y="96464"/>
            <a:ext cx="2069136" cy="2821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A824FD7-8C56-E5D9-6EB4-C3A18D20C1EE}"/>
              </a:ext>
            </a:extLst>
          </p:cNvPr>
          <p:cNvSpPr txBox="1"/>
          <p:nvPr/>
        </p:nvSpPr>
        <p:spPr>
          <a:xfrm>
            <a:off x="7019365" y="2975884"/>
            <a:ext cx="412152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dirty="0"/>
              <a:t>1. </a:t>
            </a:r>
            <a:r>
              <a:rPr lang="en-US" sz="1200" b="1" dirty="0" err="1"/>
              <a:t>Język</a:t>
            </a:r>
            <a:r>
              <a:rPr lang="en-US" sz="1200" b="1" dirty="0"/>
              <a:t> Eiffel (1985)</a:t>
            </a:r>
            <a:r>
              <a:rPr lang="en-US" sz="1200" dirty="0"/>
              <a:t> - </a:t>
            </a:r>
            <a:r>
              <a:rPr lang="en-US" sz="1200" dirty="0" err="1"/>
              <a:t>obiektowy</a:t>
            </a:r>
            <a:r>
              <a:rPr lang="en-US" sz="1200" dirty="0"/>
              <a:t> </a:t>
            </a:r>
            <a:r>
              <a:rPr lang="en-US" sz="1200" dirty="0" err="1"/>
              <a:t>język</a:t>
            </a:r>
            <a:r>
              <a:rPr lang="en-US" sz="1200" dirty="0"/>
              <a:t> </a:t>
            </a:r>
            <a:r>
              <a:rPr lang="en-US" sz="1200" dirty="0" err="1"/>
              <a:t>programowania</a:t>
            </a:r>
            <a:r>
              <a:rPr lang="en-US" sz="1200" dirty="0"/>
              <a:t> z </a:t>
            </a:r>
            <a:r>
              <a:rPr lang="en-US" sz="1200" dirty="0" err="1"/>
              <a:t>wbudowaną</a:t>
            </a:r>
            <a:r>
              <a:rPr lang="en-US" sz="1200" dirty="0"/>
              <a:t> </a:t>
            </a:r>
            <a:r>
              <a:rPr lang="en-US" sz="1200" dirty="0" err="1"/>
              <a:t>obsługą</a:t>
            </a:r>
            <a:r>
              <a:rPr lang="en-US" sz="1200" dirty="0"/>
              <a:t> </a:t>
            </a:r>
            <a:r>
              <a:rPr lang="en-US" sz="1200" dirty="0" err="1"/>
              <a:t>kontraktów</a:t>
            </a:r>
            <a:r>
              <a:rPr lang="en-US" sz="1200" dirty="0"/>
              <a:t> (</a:t>
            </a:r>
            <a:r>
              <a:rPr lang="en-US" sz="1200" dirty="0">
                <a:latin typeface="Courier New" panose="02070309020205020404" pitchFamily="49" charset="0"/>
              </a:rPr>
              <a:t>require</a:t>
            </a:r>
            <a:r>
              <a:rPr lang="en-US" sz="1200" dirty="0"/>
              <a:t>, </a:t>
            </a:r>
            <a:r>
              <a:rPr lang="en-US" sz="1200" dirty="0">
                <a:latin typeface="Courier New" panose="02070309020205020404" pitchFamily="49" charset="0"/>
              </a:rPr>
              <a:t>ensure</a:t>
            </a:r>
            <a:r>
              <a:rPr lang="en-US" sz="1200" dirty="0"/>
              <a:t>, </a:t>
            </a:r>
            <a:r>
              <a:rPr lang="en-US" sz="1200" dirty="0">
                <a:latin typeface="Courier New" panose="02070309020205020404" pitchFamily="49" charset="0"/>
              </a:rPr>
              <a:t>invariant</a:t>
            </a:r>
            <a:r>
              <a:rPr lang="en-US" sz="1200" dirty="0"/>
              <a:t>)</a:t>
            </a:r>
          </a:p>
          <a:p>
            <a:pPr>
              <a:buNone/>
            </a:pPr>
            <a:r>
              <a:rPr lang="en-US" sz="1200" b="1" dirty="0"/>
              <a:t>2. Design by Contract</a:t>
            </a:r>
            <a:r>
              <a:rPr lang="en-US" sz="1200" dirty="0"/>
              <a:t> - </a:t>
            </a:r>
            <a:r>
              <a:rPr lang="en-US" sz="1200" dirty="0" err="1"/>
              <a:t>metodologia</a:t>
            </a:r>
            <a:r>
              <a:rPr lang="en-US" sz="1200" dirty="0"/>
              <a:t> </a:t>
            </a:r>
            <a:r>
              <a:rPr lang="en-US" sz="1200" dirty="0" err="1"/>
              <a:t>definiowania</a:t>
            </a:r>
            <a:r>
              <a:rPr lang="en-US" sz="1200" dirty="0"/>
              <a:t> </a:t>
            </a:r>
            <a:r>
              <a:rPr lang="en-US" sz="1200" dirty="0" err="1"/>
              <a:t>formalnych</a:t>
            </a:r>
            <a:r>
              <a:rPr lang="en-US" sz="1200" dirty="0"/>
              <a:t> "</a:t>
            </a:r>
            <a:r>
              <a:rPr lang="en-US" sz="1200" dirty="0" err="1"/>
              <a:t>kontraktów</a:t>
            </a:r>
            <a:r>
              <a:rPr lang="en-US" sz="1200" dirty="0"/>
              <a:t>" </a:t>
            </a:r>
            <a:r>
              <a:rPr lang="en-US" sz="1200" dirty="0" err="1"/>
              <a:t>dla</a:t>
            </a:r>
            <a:r>
              <a:rPr lang="en-US" sz="1200" dirty="0"/>
              <a:t> </a:t>
            </a:r>
            <a:r>
              <a:rPr lang="en-US" sz="1200" dirty="0" err="1"/>
              <a:t>komponentów</a:t>
            </a:r>
            <a:r>
              <a:rPr lang="en-US" sz="12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err="1"/>
              <a:t>Warunki</a:t>
            </a:r>
            <a:r>
              <a:rPr lang="en-US" sz="1200" dirty="0"/>
              <a:t> </a:t>
            </a:r>
            <a:r>
              <a:rPr lang="en-US" sz="1200" dirty="0" err="1"/>
              <a:t>wstępne</a:t>
            </a:r>
            <a:r>
              <a:rPr lang="en-US" sz="1200" dirty="0"/>
              <a:t> (preconditions)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err="1"/>
              <a:t>Warunki</a:t>
            </a:r>
            <a:r>
              <a:rPr lang="en-US" sz="1200" dirty="0"/>
              <a:t> </a:t>
            </a:r>
            <a:r>
              <a:rPr lang="en-US" sz="1200" dirty="0" err="1"/>
              <a:t>końcowe</a:t>
            </a:r>
            <a:r>
              <a:rPr lang="en-US" sz="1200" dirty="0"/>
              <a:t> (postconditions)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err="1"/>
              <a:t>Niezmienniki</a:t>
            </a:r>
            <a:r>
              <a:rPr lang="en-US" sz="1200" dirty="0"/>
              <a:t> </a:t>
            </a:r>
            <a:r>
              <a:rPr lang="en-US" sz="1200" dirty="0" err="1"/>
              <a:t>klas</a:t>
            </a:r>
            <a:r>
              <a:rPr lang="en-US" sz="1200" dirty="0"/>
              <a:t> (invariants)</a:t>
            </a:r>
          </a:p>
          <a:p>
            <a:pPr>
              <a:buNone/>
            </a:pPr>
            <a:r>
              <a:rPr lang="en-US" sz="1200" b="1" dirty="0"/>
              <a:t>3. "Object-Oriented Software Construction"</a:t>
            </a:r>
            <a:r>
              <a:rPr lang="en-US" sz="1200" dirty="0"/>
              <a:t> (1988) - </a:t>
            </a:r>
            <a:r>
              <a:rPr lang="en-US" sz="1200" dirty="0" err="1"/>
              <a:t>klasyczna</a:t>
            </a:r>
            <a:r>
              <a:rPr lang="en-US" sz="1200" dirty="0"/>
              <a:t> </a:t>
            </a:r>
            <a:r>
              <a:rPr lang="en-US" sz="1200" dirty="0" err="1"/>
              <a:t>książka</a:t>
            </a:r>
            <a:r>
              <a:rPr lang="en-US" sz="1200" dirty="0"/>
              <a:t> o </a:t>
            </a:r>
            <a:r>
              <a:rPr lang="en-US" sz="1200" dirty="0" err="1"/>
              <a:t>programowaniu</a:t>
            </a:r>
            <a:r>
              <a:rPr lang="en-US" sz="1200" dirty="0"/>
              <a:t> </a:t>
            </a:r>
            <a:r>
              <a:rPr lang="en-US" sz="1200" dirty="0" err="1"/>
              <a:t>obiektowym</a:t>
            </a:r>
            <a:r>
              <a:rPr lang="en-US" sz="1200" dirty="0"/>
              <a:t> (~1400 </a:t>
            </a:r>
            <a:r>
              <a:rPr lang="en-US" sz="1200" dirty="0" err="1"/>
              <a:t>stron</a:t>
            </a:r>
            <a:r>
              <a:rPr lang="en-US" sz="1200" dirty="0"/>
              <a:t>)</a:t>
            </a:r>
          </a:p>
          <a:p>
            <a:pPr>
              <a:buNone/>
            </a:pPr>
            <a:r>
              <a:rPr lang="en-US" sz="1200" b="1" dirty="0"/>
              <a:t>4. Zasada Open-Closed</a:t>
            </a:r>
            <a:r>
              <a:rPr lang="en-US" sz="1200" dirty="0"/>
              <a:t> - "</a:t>
            </a:r>
            <a:r>
              <a:rPr lang="en-US" sz="1200" dirty="0" err="1"/>
              <a:t>Oprogramowanie</a:t>
            </a:r>
            <a:r>
              <a:rPr lang="en-US" sz="1200" dirty="0"/>
              <a:t> </a:t>
            </a:r>
            <a:r>
              <a:rPr lang="en-US" sz="1200" dirty="0" err="1"/>
              <a:t>powinno</a:t>
            </a:r>
            <a:r>
              <a:rPr lang="en-US" sz="1200" dirty="0"/>
              <a:t> </a:t>
            </a:r>
            <a:r>
              <a:rPr lang="en-US" sz="1200" dirty="0" err="1"/>
              <a:t>być</a:t>
            </a:r>
            <a:r>
              <a:rPr lang="en-US" sz="1200" dirty="0"/>
              <a:t> </a:t>
            </a:r>
            <a:r>
              <a:rPr lang="en-US" sz="1200" dirty="0" err="1"/>
              <a:t>otwarte</a:t>
            </a:r>
            <a:r>
              <a:rPr lang="en-US" sz="1200" dirty="0"/>
              <a:t> </a:t>
            </a:r>
            <a:r>
              <a:rPr lang="en-US" sz="1200" dirty="0" err="1"/>
              <a:t>na</a:t>
            </a:r>
            <a:r>
              <a:rPr lang="en-US" sz="1200" dirty="0"/>
              <a:t> </a:t>
            </a:r>
            <a:r>
              <a:rPr lang="en-US" sz="1200" dirty="0" err="1"/>
              <a:t>rozszerzenia</a:t>
            </a:r>
            <a:r>
              <a:rPr lang="en-US" sz="1200" dirty="0"/>
              <a:t>, </a:t>
            </a:r>
            <a:r>
              <a:rPr lang="en-US" sz="1200" dirty="0" err="1"/>
              <a:t>zamknięte</a:t>
            </a:r>
            <a:r>
              <a:rPr lang="en-US" sz="1200" dirty="0"/>
              <a:t> </a:t>
            </a:r>
            <a:r>
              <a:rPr lang="en-US" sz="1200" dirty="0" err="1"/>
              <a:t>na</a:t>
            </a:r>
            <a:r>
              <a:rPr lang="en-US" sz="1200" dirty="0"/>
              <a:t> </a:t>
            </a:r>
            <a:r>
              <a:rPr lang="en-US" sz="1200" dirty="0" err="1"/>
              <a:t>modyfikacje</a:t>
            </a:r>
            <a:r>
              <a:rPr lang="en-US" sz="1200" dirty="0"/>
              <a:t>" (</a:t>
            </a:r>
            <a:r>
              <a:rPr lang="en-US" sz="1200" dirty="0" err="1"/>
              <a:t>później</a:t>
            </a:r>
            <a:r>
              <a:rPr lang="en-US" sz="1200" dirty="0"/>
              <a:t> "O" w SOLID)</a:t>
            </a:r>
          </a:p>
          <a:p>
            <a:pPr>
              <a:buNone/>
            </a:pPr>
            <a:r>
              <a:rPr lang="en-US" sz="1200" b="1" dirty="0"/>
              <a:t>5. Command-Query Separation</a:t>
            </a:r>
            <a:r>
              <a:rPr lang="en-US" sz="1200" dirty="0"/>
              <a:t> - </a:t>
            </a:r>
            <a:r>
              <a:rPr lang="en-US" sz="1200" dirty="0" err="1"/>
              <a:t>metody</a:t>
            </a:r>
            <a:r>
              <a:rPr lang="en-US" sz="1200" dirty="0"/>
              <a:t> </a:t>
            </a:r>
            <a:r>
              <a:rPr lang="en-US" sz="1200" dirty="0" err="1"/>
              <a:t>powinny</a:t>
            </a:r>
            <a:r>
              <a:rPr lang="en-US" sz="1200" dirty="0"/>
              <a:t> </a:t>
            </a:r>
            <a:r>
              <a:rPr lang="en-US" sz="1200" dirty="0" err="1"/>
              <a:t>albo</a:t>
            </a:r>
            <a:r>
              <a:rPr lang="en-US" sz="1200" dirty="0"/>
              <a:t> </a:t>
            </a:r>
            <a:r>
              <a:rPr lang="en-US" sz="1200" dirty="0" err="1"/>
              <a:t>zmieniać</a:t>
            </a:r>
            <a:r>
              <a:rPr lang="en-US" sz="1200" dirty="0"/>
              <a:t> stan, </a:t>
            </a:r>
            <a:r>
              <a:rPr lang="en-US" sz="1200" dirty="0" err="1"/>
              <a:t>albo</a:t>
            </a:r>
            <a:r>
              <a:rPr lang="en-US" sz="1200" dirty="0"/>
              <a:t> </a:t>
            </a:r>
            <a:r>
              <a:rPr lang="en-US" sz="1200" dirty="0" err="1"/>
              <a:t>zwracać</a:t>
            </a:r>
            <a:r>
              <a:rPr lang="en-US" sz="1200" dirty="0"/>
              <a:t> </a:t>
            </a:r>
            <a:r>
              <a:rPr lang="en-US" sz="1200" dirty="0" err="1"/>
              <a:t>dane</a:t>
            </a:r>
            <a:r>
              <a:rPr lang="en-US" sz="1200" dirty="0"/>
              <a:t>, </a:t>
            </a:r>
            <a:r>
              <a:rPr lang="en-US" sz="1200" dirty="0" err="1"/>
              <a:t>nigdy</a:t>
            </a:r>
            <a:r>
              <a:rPr lang="en-US" sz="1200" dirty="0"/>
              <a:t> </a:t>
            </a:r>
            <a:r>
              <a:rPr lang="en-US" sz="1200" dirty="0" err="1"/>
              <a:t>jedno</a:t>
            </a:r>
            <a:r>
              <a:rPr lang="en-US" sz="1200" dirty="0"/>
              <a:t> </a:t>
            </a:r>
            <a:r>
              <a:rPr lang="en-US" sz="1200" dirty="0" err="1"/>
              <a:t>i</a:t>
            </a:r>
            <a:r>
              <a:rPr lang="en-US" sz="1200" dirty="0"/>
              <a:t> </a:t>
            </a:r>
            <a:r>
              <a:rPr lang="en-US" sz="1200" dirty="0" err="1"/>
              <a:t>drugie</a:t>
            </a:r>
            <a:endParaRPr lang="en-US" sz="1200" dirty="0"/>
          </a:p>
          <a:p>
            <a:pPr>
              <a:buNone/>
            </a:pPr>
            <a:endParaRPr lang="en-US" sz="1200" dirty="0"/>
          </a:p>
          <a:p>
            <a:pPr>
              <a:buNone/>
            </a:pPr>
            <a:r>
              <a:rPr lang="en-US" sz="1200" dirty="0" err="1"/>
              <a:t>Wieloletni</a:t>
            </a:r>
            <a:r>
              <a:rPr lang="en-US" sz="1200" dirty="0"/>
              <a:t> </a:t>
            </a:r>
            <a:r>
              <a:rPr lang="en-US" sz="1200" dirty="0" err="1"/>
              <a:t>profesor</a:t>
            </a:r>
            <a:r>
              <a:rPr lang="en-US" sz="1200" dirty="0"/>
              <a:t> ETH Zürich, </a:t>
            </a:r>
            <a:r>
              <a:rPr lang="en-US" sz="1200" dirty="0" err="1"/>
              <a:t>założyciel</a:t>
            </a:r>
            <a:r>
              <a:rPr lang="en-US" sz="1200" dirty="0"/>
              <a:t> Eiffel Software, </a:t>
            </a:r>
            <a:r>
              <a:rPr lang="en-US" sz="1200" dirty="0" err="1"/>
              <a:t>laureat</a:t>
            </a:r>
            <a:r>
              <a:rPr lang="en-US" sz="1200" dirty="0"/>
              <a:t> </a:t>
            </a:r>
            <a:r>
              <a:rPr lang="en-US" sz="1200" dirty="0" err="1"/>
              <a:t>nagrody</a:t>
            </a:r>
            <a:r>
              <a:rPr lang="en-US" sz="1200" dirty="0"/>
              <a:t> Dahl-Nygaard (2006). </a:t>
            </a:r>
            <a:r>
              <a:rPr lang="en-US" sz="1200" dirty="0" err="1"/>
              <a:t>Wciąż</a:t>
            </a:r>
            <a:r>
              <a:rPr lang="en-US" sz="1200" dirty="0"/>
              <a:t> </a:t>
            </a:r>
            <a:r>
              <a:rPr lang="en-US" sz="1200" dirty="0" err="1"/>
              <a:t>aktywny</a:t>
            </a:r>
            <a:r>
              <a:rPr lang="en-US" sz="1200" dirty="0"/>
              <a:t> - </a:t>
            </a:r>
            <a:r>
              <a:rPr lang="en-US" sz="1200" dirty="0" err="1"/>
              <a:t>prowadzi</a:t>
            </a:r>
            <a:r>
              <a:rPr lang="en-US" sz="1200" dirty="0"/>
              <a:t> blog bertrandmeyer.com.</a:t>
            </a:r>
          </a:p>
        </p:txBody>
      </p:sp>
    </p:spTree>
    <p:extLst>
      <p:ext uri="{BB962C8B-B14F-4D97-AF65-F5344CB8AC3E}">
        <p14:creationId xmlns:p14="http://schemas.microsoft.com/office/powerpoint/2010/main" val="19122836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BB188B9-CC66-B7B4-6202-835B86966A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9961" y="1021761"/>
            <a:ext cx="8811855" cy="80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9541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BF83B-2039-A1ED-4094-44A082955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381"/>
            <a:ext cx="10512552" cy="406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End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4034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1022</TotalTime>
  <Words>396</Words>
  <Application>Microsoft Office PowerPoint</Application>
  <PresentationFormat>Widescreen</PresentationFormat>
  <Paragraphs>49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Courier New</vt:lpstr>
      <vt:lpstr>Office Theme</vt:lpstr>
      <vt:lpstr>PowerPoint Presentation</vt:lpstr>
      <vt:lpstr>Liskov Substitution principle  LSP</vt:lpstr>
      <vt:lpstr>Agenda</vt:lpstr>
      <vt:lpstr>PowerPoint Presentation</vt:lpstr>
      <vt:lpstr>1987.</vt:lpstr>
      <vt:lpstr>Addendum to the Proceedings</vt:lpstr>
      <vt:lpstr>Wczesna definicja</vt:lpstr>
      <vt:lpstr>PowerPoint Presentation</vt:lpstr>
      <vt:lpstr>PowerPoint Presentation</vt:lpstr>
      <vt:lpstr>A Behavioral Notion of  Subtyping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Krzysztof Nitwinko</dc:creator>
  <cp:lastModifiedBy>Krzysztof Nitwinko</cp:lastModifiedBy>
  <cp:revision>11</cp:revision>
  <dcterms:created xsi:type="dcterms:W3CDTF">2025-12-14T11:40:01Z</dcterms:created>
  <dcterms:modified xsi:type="dcterms:W3CDTF">2025-12-16T17:44:34Z</dcterms:modified>
</cp:coreProperties>
</file>